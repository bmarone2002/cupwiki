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89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DELLA STRADA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CANONE UNICO PATRIMONIALE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punti di contatto di due discipline mai alternative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CUP (L. 160/2019, comma 816) ha rafforzato il legame tra: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Occupazioni di suolo pubblico e impianti pubblicitari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Codice della Strada (D.Lgs. 285/1992)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Regolamento CdS (DPR 495/1992)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 discipline non viaggiano più come rette parallele: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armonizzazione tra uffici finanziari e Polizia Locale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Figure di Pubblico Ufficiale e poteri di contestazione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Articolo 20 CdS – occupazioni di suolo pubblico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Occupazioni abusive – verbali e sanzioni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Articolo 22 CdS – passi carrabili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Censimento accessi e regolarizzazione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Articolo 23 CdS – mezzi pubblicitari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DL 19/2026 art. 5 – SCIA per mezzi pubblicitari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Impianti abusivi – contestazione e rimozione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Artt. 26-27 CdS – autorizzazioni e competenze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Canone non ricognitorio ex art. 27 CdS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FIGURE DI PUBBLICO UFFICIALE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POLIZIA LOCALE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Contestazione immediata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Verbale di contestazione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Sanzione art. 20 o 23 CdS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Sanzione accessoria rimozione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ACCERTATORE ENTRATE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Art. 1 c.179 L. 296/2006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Verbale di accertamento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Trasmissione a ufficio competente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Avviso di accertamento CUP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RILEVANZA DEL VERBALE DI ACCERTAMENTO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2700 Codice Civile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verbale redatto da pubblico ufficiale costituisce </a:t>
            </a: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 pubblico facente fede fino a querela di falso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Efficacia probatoria: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Accertamento violazioni amministrative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Violazioni tributarie e patrimoniali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Elemento di certezza nel contenzioso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2-3. ARTICOLO 20 CdS - OCCUPAZIONI DI SUOLO PUBBLICO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 comma 4 CdS – Sanzione € 173-694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 comma 5 CdS – Sanzione accessoria rimozione opere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160/2019 comma 821 lett. g) – Indennità CUP + maggiorazione 50%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SANZIONATORIO: DOPPIO BINARIO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DELLA STRADA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Verbale di contestazione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Sanzione pecuniaria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(€ 173-694)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Sanzione accessoria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(rimozione opere)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 UNICO PATRIMONIALE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Verbale di accertamento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Indennità maggiorata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(canone + 50%)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Sanzione amministrativa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(min=canone, max=doppio)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ARTICOLO 22 CdS - PASSI CARRABILI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 e diramazioni - Art. 22 CdS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1: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 accessi richiedono preventiva autorizzazione ente proprietario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2: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 esistenti devono essere regolarizzati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3: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carrabili devono essere individuati con apposito segnale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11: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Sanzione € 173-694 + obbligo ripristino luoghi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CARRABILI E CUP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di paradigma con il CUP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è il rilascio dell'autorizzazione, non l'occupazione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Priorità: gestione e sicurezza stradale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160/2019 comma 824:</a:t>
            </a: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= larghezza × 1 metro lineare convenzionale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Riscatto: pagamento 20 annualità in unica soluzione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CENSIMENTO E REGOLARIZZAZIONE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di accertamento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 on field: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Pubblici Ufficiali sul territorio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Accertatori Entrate e Agenti PM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 on desk: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Street View e altri servizi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Cass. n. 308/2020: foto da Google valide come prova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Cronologia immagini per conferme probatorie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ARTICOLO 23 CdS - MEZZI PUBBLICITARI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generale - Art. 23 comma 4 CdS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Collocazione lungo strade o in vista di esse: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soggetta ad autorizzazione ente proprietario strada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centri abitati: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Competenza dei Comuni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Salvo nulla osta tecnico se strada statale/regionale/provinciale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Vietati: messaggi sessisti, violenti, discriminatori (comma 4-bis)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SANZIONI IMPIANTI PUBBLICITARI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23 comma 11 CdS – Violazione disposizioni: € 430-1.731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23 comma 12 CdS – Inosservanza prescrizioni: € 1.417-14.168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160/2019 comma 821 – CUP: indennità + sanzione amministrativa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D.L. 19/2026 ART. 5 - LA SCIA PER I MEZZI PUBBLICITARI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Novità normativa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collocazione dei mezzi pubblicitari art. 23 CdS: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Subordinata alla presentazione di SCIA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 Sportello Unico Attività Produttive (SUAP) del Comune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SCIA corredata da asseverazione tecnico abilitato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Rispetto requisiti art. 23 CdS e DPR 495/1992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Rispetto regolamenti comunali/ente proprietario strada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SCIA: IMPLICAZIONI OPERATIVE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L'introduzione della SCIA riporta d'attualità due temi: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Piano Generale degli Impianti Pubblicitari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Necessità per i Comuni di dotarsi di un piano generale</a:t>
            </a: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Tecnici abilitati dovranno fare riferimento in fase di asseverazione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Modalità di pagamento del Canone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L. 160/2019 comma 835: pagamento contestuale al rilascio</a:t>
            </a: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del provvedimento amministrativo (autorizzazione installazione)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IMPIANTI ABUSIVI - PROCEDURA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 di rimozione - L. 160/2019 comma 822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enti procedono alla rimozione di: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Mezzi pubblicitari privi di concessione/autorizzazione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Mezzi in difformità dalle prescrizioni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Mezzi per cui non sia stato pagato il canone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Previa redazione processo verbale da pubblico ufficiale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Oneri a carico del trasgressore o del soggetto pubblicizzato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 RIMOZIONE - ART. 23 CdS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23 comma 13-bis CdS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Diffida a rimuovere entro 10 giorni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(5 giorni per violazioni comma 4-bis)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Decorso il termine → ente procede a rimozione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Custodia con oneri a carico del trasgressore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Sanzione € 4.833-19.332 per chi viola le prescrizioni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Accesso al fondo privato autorizzato per tutti gli organi PM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ARTICOLI 47-59 REGOLAMENTO CdS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Definizioni e caratteristiche tecniche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47 - Definizione mezzi pubblicitari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Insegne d'esercizio, preinsegne, cartelli, mezzi di propaganda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48 - Dimensioni di riferimento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49 - Caratteristiche cartelli e insegne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50 - Caratteristiche impianti luminosi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51 - Ubicazione e fasce di pertinenza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56 - Vigilanza sulla corretta realizzazione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57 - Pubblicità sui veicoli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INSEGNE D'ESERCIZIO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uniforme CdS e CUP - Art. 47 Reg. CdS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Scritta in caratteri alfanumerici, completata da simboli e marchi,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realizzata con materiali di qualsiasi natura, installata nella sede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dell'attività o nelle pertinenze accessorie.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essere luminosa per luce propria o indiretta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160/2019 comma 833 lett. L:</a:t>
            </a: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Esenzione fino a 5 mq complessivi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VIGILANZA - ART. 56 REG. CdS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degli enti proprietari delle strade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6766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Vigilanza su: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Corretta realizzazione impianti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Esatto posizionamento rispetto a quanto autorizzato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Stato di conservazione e manutenzione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Termini di scadenza autorizzazioni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500" b="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fondamentale tra PM e Ufficio Entrate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ARTICOLI 26-27 CdS - COMPETENZE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26 - Competenza per autorizzazioni e concessioni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generale: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 proprietario della strada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26 comma 3 - Centri abitati &lt; 10.000 abitanti: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Competenza del Comune per strade statali/regionali/provinciali</a:t>
            </a: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 nulla osta ente proprietario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 abitati &gt; 10.000 abitanti: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Competenza comunale (strade tipo D, E, F ex art. 2 co.7 CdS)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CANONE EX ART. 27 CdS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27 comma 7-8 CdS - Canone non ricognitorio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 per uso/occupazione strade: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Annualità o unica soluzione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Determinata dall'ente proprietario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abrogato dal CUP (comma 847 L. 160/2019)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Applicabile quando:</a:t>
            </a: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 proprietario strada ≠ soggetto attivo CUP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SOGGETTIVITÀ ATTIVA CUP vs CANONE ART. 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APPLICA CUP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 rilascia autorizzazione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soggetto attivo CUP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 rilascia autorizzazione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pubblicità su strada comunale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APPLICA CANONE ART. 27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 rilascia autorizzazione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soggetto attivo CUP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rilascia autorizzazione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strada provinciale in centro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abitato &lt; 10.000 abitanti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SINERGIE TRA UFFICI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Necessità di collaborazione e conoscenza reciproca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specializzate con competenze trasversali: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Sezioni di Polizia Tributaria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Nuclei Operativi Antievasione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Squadre PM dedicate a CdS e entrate locali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 di sinergia:</a:t>
            </a: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CUP, TARI, Imposta di Soggiorno, controllo attività produttive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CUP rafforza l'intreccio con il Codice della Strada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 discipline devono dialogare costantemente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Sinergie tra uffici finanziari e Polizia Locale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efficienza, controllo e gestione del territorio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1372</Words>
  <Application>Microsoft Macintosh PowerPoint</Application>
  <PresentationFormat>Presentazione su schermo (16:9)</PresentationFormat>
  <Paragraphs>263</Paragraphs>
  <Slides>25</Slides>
  <Notes>25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Codice della Strada e Canone Unico Patrimoniale</dc:title>
  <dc:subject>PptxGenJS Presentation</dc:subject>
  <dc:creator>Archivia Solution SpA - Sei Sindaci</dc:creator>
  <cp:lastModifiedBy>ROSA VICIDOMINI</cp:lastModifiedBy>
  <cp:revision>1</cp:revision>
  <dcterms:created xsi:type="dcterms:W3CDTF">2026-04-01T15:16:50Z</dcterms:created>
  <dcterms:modified xsi:type="dcterms:W3CDTF">2026-07-06T08:37:12Z</dcterms:modified>
</cp:coreProperties>
</file>