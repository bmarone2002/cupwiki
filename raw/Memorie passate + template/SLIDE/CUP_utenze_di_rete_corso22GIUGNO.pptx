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491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rri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5661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66160" y="5074920"/>
            <a:ext cx="5577840" cy="1783080"/>
          </a:xfrm>
          <a:prstGeom prst="rect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3931920" y="1371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- LE UTENZE DI RETE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931920" y="21488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Telecomunicazioni</a:t>
            </a:r>
            <a:endParaRPr lang="en-US" sz="2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Idrico</a:t>
            </a:r>
            <a:endParaRPr lang="en-US" sz="2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2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600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931920" y="5257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Canone Unico Patrimoniale — come si calcola, chi paga, come si difende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93192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1, commi 816–847, L. 160/2019   ·   Cass. SS.UU. n. 12225/2026</a:t>
            </a:r>
            <a:endParaRPr lang="en-US" sz="11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19A0939-5916-1E1B-6F2C-8598A89FA23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974" y="404664"/>
            <a:ext cx="1057234" cy="4078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CUP sulle utenze di rete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 rispetto al passato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CUP è dovuto per le </a:t>
            </a:r>
            <a:r>
              <a:rPr lang="en-US" sz="14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occupazioni permanenti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suolo e sottosuolo realizzate con cavi e condutture dalle aziende che erogano luce, gas, acqua, fognatura e telefonia. Sostituisce TOSAP, COSAP e i canoni ex art. 27 cod. strada ed ex art. 62 D.Lgs. 446/1997.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2679192" cy="3063240"/>
          </a:xfrm>
          <a:prstGeom prst="roundRect">
            <a:avLst>
              <a:gd name="adj" fmla="val 2730"/>
            </a:avLst>
          </a:prstGeom>
          <a:solidFill>
            <a:srgbClr val="F4F3F1"/>
          </a:solidFill>
          <a:ln w="1270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 calcolo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22219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più la superficie occupata, ma il numero di utenze attive al 31 dicembre dell'anno precedente × tariffa unitaria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32404" y="2697480"/>
            <a:ext cx="2679192" cy="3063240"/>
          </a:xfrm>
          <a:prstGeom prst="roundRect">
            <a:avLst>
              <a:gd name="adj" fmla="val 2730"/>
            </a:avLst>
          </a:prstGeom>
          <a:solidFill>
            <a:srgbClr val="F4F3F1"/>
          </a:solidFill>
          <a:ln w="1270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506724" y="2926080"/>
            <a:ext cx="502920" cy="502920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461004" y="361188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Tariffa (comma 831)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61004" y="4114800"/>
            <a:ext cx="22219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€ 1,50 per utenza nei Comuni fino a 20.000 ab.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€ 1,00 per utenza nei Comuni oltre 20.000 ab.</a:t>
            </a:r>
            <a:endParaRPr lang="en-US" sz="13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 di legge € 800/anno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07608" y="2697480"/>
            <a:ext cx="2679192" cy="3063240"/>
          </a:xfrm>
          <a:prstGeom prst="roundRect">
            <a:avLst>
              <a:gd name="adj" fmla="val 2730"/>
            </a:avLst>
          </a:prstGeom>
          <a:solidFill>
            <a:srgbClr val="F4F3F1"/>
          </a:solidFill>
          <a:ln w="1270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281928" y="2926080"/>
            <a:ext cx="502920" cy="502920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236208" y="3611880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36208" y="4114800"/>
            <a:ext cx="22219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Autoliquidazione entro il 30 aprile di ogni anno a cura delle aziende, tramite PagoPA Corporate, senza necessità di avviso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 SOLUTION S.p.A.  —  Supporto all'accertamento CUP · Servizi a rete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L'occupazione “in via </a:t>
            </a:r>
            <a:r>
              <a:rPr lang="en-US" sz="3000" b="1" dirty="0" err="1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mediata</a:t>
            </a:r>
            <a:r>
              <a:rPr lang="en-US" sz="30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 per le TLC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è soggetto passivo del canone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gestore del servizio finale (es. Wind Tre,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Fastweb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eroga il proprio servizio agli utenti utilizzando infrastrutture di proprietà di un altro soggetto (es. Open Fiber, Tim). </a:t>
            </a:r>
            <a:r>
              <a:rPr lang="en-US" sz="14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L'occupazione avviene “in via mediata”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pur non essendo titolare dell'infrastruttura, il gestore ne beneficia per la propria attività.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4069080" cy="1874520"/>
          </a:xfrm>
          <a:prstGeom prst="roundRect">
            <a:avLst>
              <a:gd name="adj" fmla="val 3902"/>
            </a:avLst>
          </a:prstGeom>
          <a:solidFill>
            <a:srgbClr val="F4F3F1"/>
          </a:solidFill>
          <a:ln w="1270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paga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soggetti passivi sia il titolare della concessione/infrastruttura sia chi occupa in via mediata: entrambi pagano il CUP calcolato sulle rispettive utenze.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2606040"/>
            <a:ext cx="4069080" cy="1874520"/>
          </a:xfrm>
          <a:prstGeom prst="roundRect">
            <a:avLst>
              <a:gd name="adj" fmla="val 3902"/>
            </a:avLst>
          </a:prstGeom>
          <a:solidFill>
            <a:srgbClr val="F4F3F1"/>
          </a:solidFill>
          <a:ln w="1270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892040" y="27889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Forfettario sostitutivo € 800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92040" y="3246120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che sostituisce il canone per utenze. Si applica solo dove esiste separazione strutturale tra proprietario dell'infrastruttura e fornitore del servizio. </a:t>
            </a: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 applica al settore TLC.</a:t>
            </a:r>
            <a:endParaRPr lang="en-US" sz="1300" b="1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1F2D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20040" y="461772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D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 ·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5, co. 14-quinquies, D.L. 146/2021 (limite di responsabilità ai soli concessionari): si applica esclusivamente al settore gas/energia,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alle telecomunicazioni.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b="1" i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 a non confondere i due € 800: </a:t>
            </a:r>
            <a:r>
              <a:rPr lang="en-US" sz="11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115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 di legge</a:t>
            </a:r>
            <a:r>
              <a:rPr lang="en-US" sz="11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(comma 831) per utenze e vale per tutti, TLC incluse; il </a:t>
            </a:r>
            <a:r>
              <a:rPr lang="en-US" sz="115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forfettario sostitutivo</a:t>
            </a:r>
            <a:r>
              <a:rPr lang="en-US" sz="11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sopra descritto vale solo per le attività strumentali gas/energia.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 SOLUTION S.p.A.  —  Supporto all'accertamento CUP · Servizi a rete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Separazione: gas/energia vs telecomunicazioni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alle TLC non si applica lo stesso principio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783080" y="1508760"/>
            <a:ext cx="3456432" cy="457200"/>
          </a:xfrm>
          <a:prstGeom prst="rect">
            <a:avLst/>
          </a:prstGeom>
          <a:solidFill>
            <a:srgbClr val="1F2D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783080" y="150876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ED ENERGIA ELETTRICA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39512" y="1508760"/>
            <a:ext cx="3456432" cy="457200"/>
          </a:xfrm>
          <a:prstGeom prst="rect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239512" y="150876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TELECOMUNICAZIONI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325880" cy="1143000"/>
          </a:xfrm>
          <a:prstGeom prst="rect">
            <a:avLst/>
          </a:prstGeom>
          <a:solidFill>
            <a:srgbClr val="1F2D4D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325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83080" y="1965960"/>
            <a:ext cx="6903720" cy="1143000"/>
          </a:xfrm>
          <a:prstGeom prst="rect">
            <a:avLst/>
          </a:prstGeom>
          <a:solidFill>
            <a:srgbClr val="F4F3F1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920240" y="2039112"/>
            <a:ext cx="318211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Filiera con separazione obbligatoria tra attività di distribuzione/vendita e attività strumentali (produzione, trasmissione, trasporto).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76672" y="2039112"/>
            <a:ext cx="318211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Filiera non separata: gli operatori usano reti proprie o altrui per fornire i servizi (condivisione della rete).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1325880" cy="960120"/>
          </a:xfrm>
          <a:prstGeom prst="rect">
            <a:avLst/>
          </a:prstGeom>
          <a:solidFill>
            <a:srgbClr val="1F2D4D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1325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83080" y="3108960"/>
            <a:ext cx="6903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920240" y="3182112"/>
            <a:ext cx="318211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Separazione legale tra chi gestisce la rete e chi vende: il venditore non usa fisicamente la rete.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76672" y="3182112"/>
            <a:ext cx="318211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separazione: ogni operatore che fornisce servizi usa, anche se altrui, materialmente la rete.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1325880" cy="1325880"/>
          </a:xfrm>
          <a:prstGeom prst="rect">
            <a:avLst/>
          </a:prstGeom>
          <a:solidFill>
            <a:srgbClr val="1F2D4D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CUP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83080" y="4069080"/>
            <a:ext cx="6903720" cy="1325880"/>
          </a:xfrm>
          <a:prstGeom prst="rect">
            <a:avLst/>
          </a:prstGeom>
          <a:solidFill>
            <a:srgbClr val="F4F3F1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920240" y="4142232"/>
            <a:ext cx="3182112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→ canone per utenze × tariffa.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 strumentali → canone minimo € 800 (art. 5, c. 14-quinquies, D.L. 146/2021).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6672" y="4142232"/>
            <a:ext cx="3182112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gli operatori pagano il canone pieno in base al numero delle proprie utenze, anche usando reti altrui (occupazione mediata).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5532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assenza di separazione tra rete e servizio, nelle TLC il canone è dovuto da tutti gli operatori che utilizzano — anche indirettamente — le infrastrutture, in proporzione alle rispettive utenze.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 SOLUTION S.p.A.  —  Supporto all'accertamento CUP · Servizi a rete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 831 vs comma 831-bis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il canone è proporzionale e quando forfettario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783080" y="1508760"/>
            <a:ext cx="3456432" cy="457200"/>
          </a:xfrm>
          <a:prstGeom prst="rect">
            <a:avLst/>
          </a:prstGeom>
          <a:solidFill>
            <a:srgbClr val="1F2D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783080" y="150876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831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39512" y="1508760"/>
            <a:ext cx="3456432" cy="457200"/>
          </a:xfrm>
          <a:prstGeom prst="rect">
            <a:avLst/>
          </a:prstGeom>
          <a:solidFill>
            <a:srgbClr val="9A7B3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239512" y="150876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831-bis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325880" cy="1234440"/>
          </a:xfrm>
          <a:prstGeom prst="rect">
            <a:avLst/>
          </a:prstGeom>
          <a:solidFill>
            <a:srgbClr val="1F2D4D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Soggetti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83080" y="1965960"/>
            <a:ext cx="6903720" cy="1234440"/>
          </a:xfrm>
          <a:prstGeom prst="rect">
            <a:avLst/>
          </a:prstGeom>
          <a:solidFill>
            <a:srgbClr val="F4F3F1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920240" y="2020824"/>
            <a:ext cx="318211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Operatori di servizi a rete: energia, gas, acqua, calore, TLC, radiotelevisione. Include chi occupa direttamente e chi in via mediata (reti altrui).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76672" y="2020824"/>
            <a:ext cx="3182112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Operatori di reti e infrastrutture di comunicazione elettronica non già ricompresi nel comma 831.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325880" cy="1051560"/>
          </a:xfrm>
          <a:prstGeom prst="rect">
            <a:avLst/>
          </a:prstGeom>
          <a:solidFill>
            <a:srgbClr val="1F2D4D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Oggetto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83080" y="3200400"/>
            <a:ext cx="69037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920240" y="3255264"/>
            <a:ext cx="318211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servizio di pubblica utilità, comprese le attività strumentali (produzione, trasmissione, trasporto).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76672" y="3255264"/>
            <a:ext cx="318211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Impianti e infrastrutture fisiche (cavi, armadi, torri, fibra) non collegati a utenze finali.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1325880" cy="1051560"/>
          </a:xfrm>
          <a:prstGeom prst="rect">
            <a:avLst/>
          </a:prstGeom>
          <a:solidFill>
            <a:srgbClr val="1F2D4D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83080" y="4251960"/>
            <a:ext cx="6903720" cy="1051560"/>
          </a:xfrm>
          <a:prstGeom prst="rect">
            <a:avLst/>
          </a:prstGeom>
          <a:solidFill>
            <a:srgbClr val="F4F3F1"/>
          </a:solidFill>
          <a:ln w="635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920240" y="4306824"/>
            <a:ext cx="318211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Proporzionale: n. utenze × tariffa (minimo € 800). Canone variabile per dimensione del Comune.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76672" y="4306824"/>
            <a:ext cx="3182112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Forfettario: € 800 per impianto, indipendente dal numero di utenze. Canone fisso.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4406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pratica: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collegato a utenze → comma 831 (canone proporzionale).   Infrastruttura sola, senza utenze → comma 831-bis (forfettario € 800 per impianto).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 SOLUTION S.p.A.  —  Supporto all'accertamento CUP · Servizi a rete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Occupazioni permanenti e temporanee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fattispecie distinte, due prelievi separati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069080" cy="2651760"/>
          </a:xfrm>
          <a:prstGeom prst="roundRect">
            <a:avLst>
              <a:gd name="adj" fmla="val 2759"/>
            </a:avLst>
          </a:prstGeom>
          <a:solidFill>
            <a:srgbClr val="F4F3F1"/>
          </a:solidFill>
          <a:ln w="1270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69080" cy="502920"/>
          </a:xfrm>
          <a:prstGeom prst="rect">
            <a:avLst/>
          </a:prstGeom>
          <a:solidFill>
            <a:srgbClr val="1F2D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PERMANENTE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Occupazione stabile del suolo/sottosuolo con cavi e condutture.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Canone annuo in autoliquidazione, calcolato sul numero di utenze × tariffa (minimo € 800).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4069080" cy="2651760"/>
          </a:xfrm>
          <a:prstGeom prst="roundRect">
            <a:avLst>
              <a:gd name="adj" fmla="val 2759"/>
            </a:avLst>
          </a:prstGeom>
          <a:solidFill>
            <a:srgbClr val="F4F3F1"/>
          </a:solidFill>
          <a:ln w="12700">
            <a:solidFill>
              <a:srgbClr val="E9E7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4069080" cy="502920"/>
          </a:xfrm>
          <a:prstGeom prst="rect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617720" y="16916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TEMPORANEO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37744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Scavi di posa e manutenzione delle reti (occupazione di carattere giornaliero).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Prelievo autonomo, distinto e aggiuntivo rispetto al canone permanente.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1F2D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D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“assorbimento”.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canone per le manomissioni temporanee NON è assorbito dal canone annuo per l'occupazione permanente: si tratta di fattispecie diverse (l'una permanente, l'altra giornaliera) cui corrispondono prelievi separati e distinti.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 SOLUTION S.p.A.  —  Supporto all'accertamento CUP · Servizi a rete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procedura di accertamento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richiesta dati all'avviso di accertamento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673352"/>
            <a:ext cx="7360920" cy="603504"/>
          </a:xfrm>
          <a:prstGeom prst="roundRect">
            <a:avLst>
              <a:gd name="adj" fmla="val 7576"/>
            </a:avLst>
          </a:prstGeom>
          <a:solidFill>
            <a:srgbClr val="F4F3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554480" y="1673352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Richiesta dati al Comune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673352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Versamenti, dichiarazioni utenze, regolamenti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566928" cy="566928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48640" y="24597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325880" y="2441448"/>
            <a:ext cx="7360920" cy="603504"/>
          </a:xfrm>
          <a:prstGeom prst="roundRect">
            <a:avLst>
              <a:gd name="adj" fmla="val 7576"/>
            </a:avLst>
          </a:prstGeom>
          <a:solidFill>
            <a:srgbClr val="F4F3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554480" y="2441448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Elaborazione calcolo CUP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441448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dichiarati o accertamento induttivo AGCOM/ARERA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27832"/>
            <a:ext cx="566928" cy="566928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48640" y="3227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325880" y="3209544"/>
            <a:ext cx="7360920" cy="603504"/>
          </a:xfrm>
          <a:prstGeom prst="roundRect">
            <a:avLst>
              <a:gd name="adj" fmla="val 7576"/>
            </a:avLst>
          </a:prstGeom>
          <a:solidFill>
            <a:srgbClr val="F4F3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554480" y="3209544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d'atto (art. 6-bis)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209544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giorni per controdeduzioni — obbligatorio (materia concordabile)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95928"/>
            <a:ext cx="566928" cy="566928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48640" y="3995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325880" y="3977640"/>
            <a:ext cx="7360920" cy="603504"/>
          </a:xfrm>
          <a:prstGeom prst="roundRect">
            <a:avLst>
              <a:gd name="adj" fmla="val 7576"/>
            </a:avLst>
          </a:prstGeom>
          <a:solidFill>
            <a:srgbClr val="F4F3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554480" y="397764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controdeduzioni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977640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Archiviazione se accolte; avviso motivato se respinte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64024"/>
            <a:ext cx="566928" cy="566928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48640" y="47640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325880" y="4745736"/>
            <a:ext cx="7360920" cy="603504"/>
          </a:xfrm>
          <a:prstGeom prst="roundRect">
            <a:avLst>
              <a:gd name="adj" fmla="val 7576"/>
            </a:avLst>
          </a:prstGeom>
          <a:solidFill>
            <a:srgbClr val="F4F3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554480" y="4745736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Avviso di accertamento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745736"/>
            <a:ext cx="3977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Predisposto da Archivia, sottoscritto e notificato dal Comune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623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contraddittorio preventivo è obbligatorio per le utenze di rete in quanto materia concordabile (art. 6-bis L. 212/2000, mod. D.Lgs. 219/2023): </a:t>
            </a:r>
            <a:r>
              <a:rPr lang="en-US" sz="1200" b="1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sua omissione determina la nullità dell'atto.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 SOLUTION S.p.A.  —  Supporto all'accertamento CUP · Servizi a rete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9C1113C2-3F3D-AAD9-0F95-F134ACF94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187" y="0"/>
            <a:ext cx="5291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3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Eccezioni tipiche in ricorso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risposte del Comune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4F3F1"/>
          </a:solidFill>
          <a:ln w="12700">
            <a:solidFill>
              <a:srgbClr val="B0103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“Non siamo soggetti passivi: la rete è di terzi”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69164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846320" y="169164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1F2D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L'occupazione in via mediata è sufficiente: il gestore del servizio finale è soggetto passivo autonomo.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4F3F1"/>
          </a:solidFill>
          <a:ln w="12700">
            <a:solidFill>
              <a:srgbClr val="B0103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“Il calcolo induttivo (AGCOM/ARERA) è illegittimo”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306324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846320" y="306324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1F2D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029200" y="30632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Legittimato dalle presunzioni ex art. 2729 c.c. e da plurima giurisprudenza di merito (Trib. Bergamo, Treviso, Piacenza, Bolzano).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F4F3F1"/>
          </a:solidFill>
          <a:ln w="12700">
            <a:solidFill>
              <a:srgbClr val="B0103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B0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“Manca il contraddittorio preventivo”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4434840"/>
            <a:ext cx="548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846320" y="4434840"/>
            <a:ext cx="3840480" cy="1188720"/>
          </a:xfrm>
          <a:prstGeom prst="roundRect">
            <a:avLst>
              <a:gd name="adj" fmla="val 4615"/>
            </a:avLst>
          </a:prstGeom>
          <a:solidFill>
            <a:srgbClr val="1F2D4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29200" y="4434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 art. 6-bis L. 212/2000 adottata sin dall'avvio del servizio: l'eccezione è neutralizzata a monte.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 SOLUTION S.p.A.  —  Supporto all'accertamento CUP · Servizi a rete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sintesi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56032" cy="256032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D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imponibile  —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di utenze attive, non più la superficie occupata.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6032" cy="256032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D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Soggetti passivi  —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Titolare dell'infrastruttura e chi occupa in via mediata: nelle TLC paga il canone pieno chi usa la rete, anche altrui.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256032" cy="256032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D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831 vs 831-bis  —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 con utenze → proporzionale; infrastruttura senza utenze → forfettario € 800.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256032" cy="256032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D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Permanente ≠ temporaneo  —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prelievi distinti, nessun assorbimento.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256032" cy="256032"/>
          </a:xfrm>
          <a:prstGeom prst="ellipse">
            <a:avLst/>
          </a:prstGeom>
          <a:solidFill>
            <a:srgbClr val="B0103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005840" y="4983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D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Difesa  —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Contraddittorio ex art. 6-bis sempre attivato: eccezioni neutralizzate a monte.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355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ARCHIVIA SOLUTION S.p.A.  —  Supporto all'accertamento CUP · Servizi a rete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1310</Words>
  <Application>Microsoft Macintosh PowerPoint</Application>
  <PresentationFormat>Presentazione su schermo (4:3)</PresentationFormat>
  <Paragraphs>126</Paragraphs>
  <Slides>10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ROSA VICIDOMINI</cp:lastModifiedBy>
  <cp:revision>3</cp:revision>
  <dcterms:created xsi:type="dcterms:W3CDTF">2026-06-23T11:32:30Z</dcterms:created>
  <dcterms:modified xsi:type="dcterms:W3CDTF">2026-06-23T11:43:07Z</dcterms:modified>
</cp:coreProperties>
</file>