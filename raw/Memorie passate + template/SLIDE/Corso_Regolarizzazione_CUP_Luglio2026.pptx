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41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33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10972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10863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F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·  FORMAZIONE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regolarizzazione del CUP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Canone Unico Patrimoniale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formazione per operatori di front-office e call center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deve fare il cittadino  ·  Quali vantaggi ha  ·  Cosa rischia se non si regolarizza</a:t>
            </a:r>
            <a:endParaRPr lang="en-US" sz="14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2E48AE6-6239-408A-9F47-B230DDA1C9B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957" y="4874634"/>
            <a:ext cx="2068643" cy="794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COSA SERVE QUESTO CORSO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Alla fine saprai fare tutto questo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731520" y="1792224"/>
            <a:ext cx="603504" cy="603504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61" y="1937065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645920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in parole semplici cos'è la regolarizzazione del CUP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263640" y="16459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6446520" y="1792224"/>
            <a:ext cx="603504" cy="60350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61" y="1937065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645920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Elencare i vantaggi concreti per chi si mette in regola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548640" y="2761488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0"/>
          <p:cNvSpPr/>
          <p:nvPr/>
        </p:nvSpPr>
        <p:spPr>
          <a:xfrm>
            <a:off x="731520" y="2907792"/>
            <a:ext cx="603504" cy="603504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61" y="3052633"/>
            <a:ext cx="313822" cy="3138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2761488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capire cosa rischia chi NON si regolarizza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6263640" y="2761488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3"/>
          <p:cNvSpPr/>
          <p:nvPr/>
        </p:nvSpPr>
        <p:spPr>
          <a:xfrm>
            <a:off x="6446520" y="2907792"/>
            <a:ext cx="603504" cy="60350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61" y="3052633"/>
            <a:ext cx="313822" cy="31382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23760" y="2761488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Guidare il cittadino lungo la sequenza della procedura</a:t>
            </a:r>
            <a:endParaRPr lang="en-US" sz="1750" dirty="0"/>
          </a:p>
        </p:txBody>
      </p:sp>
      <p:sp>
        <p:nvSpPr>
          <p:cNvPr id="22" name="Shape 15"/>
          <p:cNvSpPr/>
          <p:nvPr/>
        </p:nvSpPr>
        <p:spPr>
          <a:xfrm>
            <a:off x="548640" y="3877056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6"/>
          <p:cNvSpPr/>
          <p:nvPr/>
        </p:nvSpPr>
        <p:spPr>
          <a:xfrm>
            <a:off x="731520" y="4023360"/>
            <a:ext cx="603504" cy="603504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61" y="4168201"/>
            <a:ext cx="313822" cy="31382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08760" y="3877056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Rispondere alle domande più frequenti al telefono</a:t>
            </a:r>
            <a:endParaRPr lang="en-US" sz="1750" dirty="0"/>
          </a:p>
        </p:txBody>
      </p:sp>
      <p:sp>
        <p:nvSpPr>
          <p:cNvPr id="26" name="Shape 18"/>
          <p:cNvSpPr/>
          <p:nvPr/>
        </p:nvSpPr>
        <p:spPr>
          <a:xfrm>
            <a:off x="6263640" y="3877056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19"/>
          <p:cNvSpPr/>
          <p:nvPr/>
        </p:nvSpPr>
        <p:spPr>
          <a:xfrm>
            <a:off x="6446520" y="4023360"/>
            <a:ext cx="603504" cy="60350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1361" y="4168201"/>
            <a:ext cx="313822" cy="31382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23760" y="3877056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Sapere cosa NON dire e quando passare all'ufficio competente</a:t>
            </a:r>
            <a:endParaRPr lang="en-US" sz="1750" dirty="0"/>
          </a:p>
        </p:txBody>
      </p:sp>
      <p:sp>
        <p:nvSpPr>
          <p:cNvPr id="30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920240"/>
            <a:ext cx="6400800" cy="64008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7A8C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9354312" y="2286000"/>
            <a:ext cx="1920240" cy="1920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889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normativa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BC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dove nasce la regolarizzazione e perché è legittima.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BASE NORMATIVA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Cos'è il CUP, in tre righe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Unico Patrimoniale (CUP)</a:t>
            </a:r>
            <a:r>
              <a:rPr lang="en-US" sz="2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quanto si deve al Comune per </a:t>
            </a:r>
            <a:r>
              <a:rPr lang="en-US" sz="21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occupare uno spazio pubblico</a:t>
            </a:r>
            <a:r>
              <a:rPr lang="en-US" sz="2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per </a:t>
            </a:r>
            <a:r>
              <a:rPr lang="en-US" sz="21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esporre un messaggio pubblicitario</a:t>
            </a:r>
            <a:r>
              <a:rPr lang="en-US" sz="2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visibile da luoghi pubblici.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3949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347472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36722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3474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Occupazione di suolo pubblico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1440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Dehors, tavolini, passi carrabili, tende, ponteggi, distributori, chioschi…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263640" y="3154680"/>
            <a:ext cx="53949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6583680" y="3474720"/>
            <a:ext cx="822960" cy="82296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90" y="36722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3474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Esposizione pubblicitaria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62940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Insegne, cartelli, impianti pubblicitari, preinsegne, striscioni visibili da strade e piazze.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art. 1, commi 816 e seguenti, Legge 160/2019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il CUP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BASE NORMATIVA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regola di base: serve sempre un titolo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2198218"/>
            <a:ext cx="404165" cy="404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60020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Occupare suolo pubblico
</a:t>
            </a:r>
            <a:r>
              <a:rPr lang="en-US" sz="1400" dirty="0">
                <a:solidFill>
                  <a:srgbClr val="5B6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richiede la </a:t>
            </a: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CONCESSIONE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6583680" y="20116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18" y="219821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160020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Esporre pubblicità
</a:t>
            </a:r>
            <a:r>
              <a:rPr lang="en-US" sz="1400" dirty="0">
                <a:solidFill>
                  <a:srgbClr val="5B6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richiede la </a:t>
            </a:r>
            <a:r>
              <a:rPr lang="en-US" sz="20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AUTORIZZAZIONE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338328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8F1F9"/>
          </a:solidFill>
          <a:ln w="12700">
            <a:solidFill>
              <a:srgbClr val="BBD4E6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0"/>
          <p:cNvSpPr/>
          <p:nvPr/>
        </p:nvSpPr>
        <p:spPr>
          <a:xfrm>
            <a:off x="777240" y="3584448"/>
            <a:ext cx="548640" cy="54864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716122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38328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titolo è imposto anche dal Codice della Strada: </a:t>
            </a: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 (occupazioni), art. 22 (passi carrabili e accessi), art. 23 (mezzi pubblicitari).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3"/>
          <p:cNvSpPr/>
          <p:nvPr/>
        </p:nvSpPr>
        <p:spPr>
          <a:xfrm>
            <a:off x="868680" y="4828032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" y="5065776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74520" y="46634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Senza titolo (o difforme) = occupazione / pubblicità IRREGOLARE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1874520" y="513892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Comune </a:t>
            </a:r>
            <a:r>
              <a:rPr lang="en-US" sz="16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</a:t>
            </a:r>
            <a:r>
              <a:rPr lang="en-US" sz="16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 cessare l'abuso e recuperare il dovuto: </a:t>
            </a: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indennità, sanzioni e interessi.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titolo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BASE NORMATIVA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soluzione: la regolarizzazione spontanea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Comune approva un </a:t>
            </a:r>
            <a:r>
              <a:rPr lang="en-US" sz="2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</a:t>
            </a:r>
            <a:r>
              <a:rPr lang="en-US" sz="20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permette a chi ha un'occupazione o una pubblicità </a:t>
            </a:r>
            <a:r>
              <a:rPr lang="en-US" sz="20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titolo</a:t>
            </a:r>
            <a:r>
              <a:rPr lang="en-US" sz="20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mettersi in regola in modo agevolato</a:t>
            </a:r>
            <a:r>
              <a:rPr lang="en-US" sz="20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presentando spontaneamente domanda entro un termine.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cosa si fonda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77240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52 D.Lgs. 446/1997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77240" y="44074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potestà regolamentare del Comune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25112" y="36576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4553712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1, commi 102 e ss., L. 199/2025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53712" y="44074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 forme di regolarizzazione agevolata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01584" y="36576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8330184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1, c. 821, lett. g), L. 160/2019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30184" y="44074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l'indennità dovuta per l'occupazione abusiva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804672" y="5458968"/>
            <a:ext cx="530352" cy="530352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56" y="5586252"/>
            <a:ext cx="275783" cy="27578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81328" y="52578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Finalità: </a:t>
            </a:r>
            <a:r>
              <a:rPr lang="en-US" sz="16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emergere spontaneamente il "sommerso", a tutela della legalità e del decoro urbano.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 CHIAVE DA TENERE A MENTE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Attenzione: NON è un condono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le penalità, ma NON cancella il dovuto di base.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E7F2EC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256397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3774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SI AZZERA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960120" y="33375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Sanzioni amministrative (lett. h)</a:t>
            </a:r>
            <a:endParaRPr lang="en-US" sz="17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Interessi di legge e da regolamento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0120" y="4663440"/>
            <a:ext cx="4572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960120" y="4754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 regolarizzi spontaneamente, non le paghi.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263640" y="205740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8E9EB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583680" y="237744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18" y="25639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0" y="23774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RESTA DOVUTO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675120" y="33375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L'indennità (sostitutiva del canone)</a:t>
            </a:r>
            <a:endParaRPr lang="en-US" sz="17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tutti gli anni non prescritti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6675120" y="4663440"/>
            <a:ext cx="4572000" cy="0"/>
          </a:xfrm>
          <a:prstGeom prst="line">
            <a:avLst/>
          </a:prstGeom>
          <a:noFill/>
          <a:ln w="12700">
            <a:solidFill>
              <a:srgbClr val="B23A4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6675120" y="4754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la tariffa maggiorata: si paga comunque.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condono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NON CONFONDERE AL TELEFONO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Regolarizzazione ≠ Definizione agevolata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strumenti diversi e non alternativi. Riconoscere quale serve è il primo filtro della telefonata.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3108960" y="2148840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108960" y="214884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REGOLARIZZAZIONE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60920" y="2148840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360920" y="214884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AGEVOLATA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825496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Riguarda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108960" y="2825496"/>
            <a:ext cx="4160520" cy="932688"/>
          </a:xfrm>
          <a:prstGeom prst="roundRect">
            <a:avLst>
              <a:gd name="adj" fmla="val 8824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291840" y="2825496"/>
            <a:ext cx="3703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Occupazioni/pubblicità SENZA titolo, non ancora accertate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60920" y="2825496"/>
            <a:ext cx="4160520" cy="932688"/>
          </a:xfrm>
          <a:prstGeom prst="roundRect">
            <a:avLst>
              <a:gd name="adj" fmla="val 882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7543800" y="2825496"/>
            <a:ext cx="3703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Posizioni GIÀ accertate / debiti già esistenti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3867912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Situazione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108960" y="3867912"/>
            <a:ext cx="4160520" cy="932688"/>
          </a:xfrm>
          <a:prstGeom prst="roundRect">
            <a:avLst>
              <a:gd name="adj" fmla="val 8824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291840" y="3867912"/>
            <a:ext cx="3703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 ho mai fatto la pratica"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60920" y="3867912"/>
            <a:ext cx="4160520" cy="932688"/>
          </a:xfrm>
          <a:prstGeom prst="roundRect">
            <a:avLst>
              <a:gd name="adj" fmla="val 882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7543800" y="3867912"/>
            <a:ext cx="3703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 è già arrivato un avviso"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4910328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108960" y="4910328"/>
            <a:ext cx="4160520" cy="932688"/>
          </a:xfrm>
          <a:prstGeom prst="roundRect">
            <a:avLst>
              <a:gd name="adj" fmla="val 8824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3291840" y="4910328"/>
            <a:ext cx="3703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Ottiene il titolo in sanatoria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360920" y="4910328"/>
            <a:ext cx="4160520" cy="932688"/>
          </a:xfrm>
          <a:prstGeom prst="roundRect">
            <a:avLst>
              <a:gd name="adj" fmla="val 8824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7543800" y="4910328"/>
            <a:ext cx="3703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Chiude in forma agevolata il debito già contestato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posizioni già accertate sono ESCLUSE dalla regolarizzazione (art. 1, c. 4): vanno nella definizione agevolata.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due strumenti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920240"/>
            <a:ext cx="6400800" cy="64008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7A8C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9354312" y="2286000"/>
            <a:ext cx="1920240" cy="1920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889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Riconoscere i casi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BC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rientra nel CUP e quando una posizione è davvero regolarizzabile.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RICONOSCERE I CASI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puoi regolarizzare?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occupazioni e le pubblicità che rientrano nel CUP e richiedono un titolo.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72084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658368" cy="65836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19868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10512"/>
            <a:ext cx="5440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OCCUPAZIONE DI SUOLO PUBBLICO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1945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la CONCESSIONE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26883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234440" y="2615184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carrabili e accessi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0586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234440" y="2985516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Griglie, botole, lucernari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4290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234440" y="3355848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Chioschi ed edicole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37993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234440" y="3726180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Ponteggi / attività edile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1696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1234440" y="4096512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Bandieruole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5399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234440" y="4466844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Colonnine ricarica veicoli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68680" y="491032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234440" y="4837176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Antenne (radio, TV)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68680" y="52806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1234440" y="5207508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Distributori di bevande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68680" y="56509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1234440" y="5577840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Distributori di carburante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54780" y="26883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4320540" y="2615184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Dehors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54780" y="30586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4320540" y="2985516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Pensiline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954780" y="34290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4320540" y="3355848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Manufatti sporgenti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954780" y="37993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4320540" y="3726180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Tavolini e sedie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954780" y="41696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4320540" y="4096512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 (fisse o retrattili)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954780" y="45399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6"/>
          <p:cNvSpPr/>
          <p:nvPr/>
        </p:nvSpPr>
        <p:spPr>
          <a:xfrm>
            <a:off x="4320540" y="4466844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Vetrine sporgenti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954780" y="491032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8"/>
          <p:cNvSpPr/>
          <p:nvPr/>
        </p:nvSpPr>
        <p:spPr>
          <a:xfrm>
            <a:off x="4320540" y="4837176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 ornamentali e fioriere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954780" y="52806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0"/>
          <p:cNvSpPr/>
          <p:nvPr/>
        </p:nvSpPr>
        <p:spPr>
          <a:xfrm>
            <a:off x="4320540" y="5207508"/>
            <a:ext cx="25831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Lanterne, lampade, lampioni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589520" y="1572768"/>
            <a:ext cx="4553712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Shape 42"/>
          <p:cNvSpPr/>
          <p:nvPr/>
        </p:nvSpPr>
        <p:spPr>
          <a:xfrm>
            <a:off x="7863840" y="1828800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848" y="1986808"/>
            <a:ext cx="342351" cy="342351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8686800" y="1810512"/>
            <a:ext cx="3273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ESPOSIZIONE PUBBLICITARIA</a:t>
            </a:r>
            <a:endParaRPr lang="en-US" sz="1550" dirty="0"/>
          </a:p>
        </p:txBody>
      </p:sp>
      <p:sp>
        <p:nvSpPr>
          <p:cNvPr id="48" name="Text 44"/>
          <p:cNvSpPr/>
          <p:nvPr/>
        </p:nvSpPr>
        <p:spPr>
          <a:xfrm>
            <a:off x="8686800" y="2194560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l'AUTORIZZAZIONE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7909560" y="27066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6"/>
          <p:cNvSpPr/>
          <p:nvPr/>
        </p:nvSpPr>
        <p:spPr>
          <a:xfrm>
            <a:off x="8275320" y="26334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Insegna d'esercizio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7909560" y="31638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48"/>
          <p:cNvSpPr/>
          <p:nvPr/>
        </p:nvSpPr>
        <p:spPr>
          <a:xfrm>
            <a:off x="8275320" y="30906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Insegna pubblicitaria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7909560" y="36210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0"/>
          <p:cNvSpPr/>
          <p:nvPr/>
        </p:nvSpPr>
        <p:spPr>
          <a:xfrm>
            <a:off x="8275320" y="35478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Impianti pubblicitari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7909560" y="40782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2"/>
          <p:cNvSpPr/>
          <p:nvPr/>
        </p:nvSpPr>
        <p:spPr>
          <a:xfrm>
            <a:off x="8275320" y="40050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Impianto pubblicitario di servizio</a:t>
            </a:r>
            <a:endParaRPr lang="en-US" sz="1300" dirty="0"/>
          </a:p>
        </p:txBody>
      </p:sp>
      <p:sp>
        <p:nvSpPr>
          <p:cNvPr id="57" name="Shape 53"/>
          <p:cNvSpPr/>
          <p:nvPr/>
        </p:nvSpPr>
        <p:spPr>
          <a:xfrm>
            <a:off x="7909560" y="45354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4"/>
          <p:cNvSpPr/>
          <p:nvPr/>
        </p:nvSpPr>
        <p:spPr>
          <a:xfrm>
            <a:off x="8275320" y="44622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Impianto di pubblicità o propaganda</a:t>
            </a:r>
            <a:endParaRPr lang="en-US" sz="1300" dirty="0"/>
          </a:p>
        </p:txBody>
      </p:sp>
      <p:sp>
        <p:nvSpPr>
          <p:cNvPr id="59" name="Shape 55"/>
          <p:cNvSpPr/>
          <p:nvPr/>
        </p:nvSpPr>
        <p:spPr>
          <a:xfrm>
            <a:off x="7909560" y="49926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C7A8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6"/>
          <p:cNvSpPr/>
          <p:nvPr/>
        </p:nvSpPr>
        <p:spPr>
          <a:xfrm>
            <a:off x="8275320" y="491947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Preinsegne</a:t>
            </a:r>
            <a:endParaRPr lang="en-US" sz="1300" dirty="0"/>
          </a:p>
        </p:txBody>
      </p:sp>
      <p:sp>
        <p:nvSpPr>
          <p:cNvPr id="61" name="Text 57"/>
          <p:cNvSpPr/>
          <p:nvPr/>
        </p:nvSpPr>
        <p:spPr>
          <a:xfrm>
            <a:off x="7909560" y="5431536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con foto: v. Scheda ricognitiva CUP.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548640" y="603504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BF0D8"/>
          </a:solidFill>
          <a:ln w="12700">
            <a:solidFill>
              <a:srgbClr val="E8D2A0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3" name="Shape 59"/>
          <p:cNvSpPr/>
          <p:nvPr/>
        </p:nvSpPr>
        <p:spPr>
          <a:xfrm>
            <a:off x="749808" y="6163056"/>
            <a:ext cx="402336" cy="402336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6263640"/>
            <a:ext cx="201168" cy="201168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1298448" y="603504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regolarizza se il titolo è rilasciabile in conformità e la posizione non è già accertata. </a:t>
            </a:r>
            <a:r>
              <a:rPr lang="en-US" sz="135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dubbio, chiedi: verifichiamo insieme.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RICONOSCERE I CASI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tutto è regolarizzabile: le due condizioni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783080" y="1828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titolo dev'essere rilasciabile "in conformità"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783080" y="23591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regolarizza solo ciò per cui il Comune potrebbe davvero rilasciare oggi il titolo, nel rispetto di: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83080" y="2834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della Strada · Strumenti urbanistici · Tutela beni culturali e paesaggio · Piano impianti pubblicitari · Regolamenti arredo urbano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11091672" cy="1874520"/>
          </a:xfrm>
          <a:prstGeom prst="roundRect">
            <a:avLst>
              <a:gd name="adj" fmla="val 4390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77240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78308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posizione non dev'essere già accertata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783080" y="4572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 cittadino è </a:t>
            </a: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arrivato un avviso/accertamento</a:t>
            </a:r>
            <a:r>
              <a:rPr lang="en-US" sz="17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quella posizione è </a:t>
            </a:r>
            <a:r>
              <a:rPr lang="en-US" sz="17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esclusa</a:t>
            </a:r>
            <a:r>
              <a:rPr lang="en-US" sz="17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dalla regolarizzazione (art. 1, c. 4) e va gestita con la </a:t>
            </a:r>
            <a:r>
              <a:rPr lang="en-US" sz="17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agevolata</a:t>
            </a:r>
            <a:r>
              <a:rPr lang="en-US" sz="17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regolarizzabile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920240"/>
            <a:ext cx="6400800" cy="64008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7A8C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9354312" y="2286000"/>
            <a:ext cx="1920240" cy="1920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889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vantaggi per il cittadino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BC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cuore del messaggio: perché conviene mettersi in regola adesso.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 VANTAGGI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conviene: 4 vantaggi concreti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68680" y="1993392"/>
            <a:ext cx="804672" cy="8046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2186513"/>
            <a:ext cx="418429" cy="4184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7088" y="19385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Niente sanzioni, niente interessi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32688" y="27432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paga solo l'indennità di base: azzerate le penalità.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63640" y="16459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6583680" y="1993392"/>
            <a:ext cx="804672" cy="8046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801" y="2186513"/>
            <a:ext cx="418429" cy="418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62088" y="19385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Ottieni il titolo in sanatoria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647688" y="27432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concessione o l'autorizzazione: l'attività torna in regola.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868680" y="4142232"/>
            <a:ext cx="804672" cy="8046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801" y="4335353"/>
            <a:ext cx="418429" cy="4184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47088" y="40873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Puoi pagare a rate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32688" y="48920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 a numerose rate mensili, in base all'importo dovuto.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6263640" y="3794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6583680" y="4142232"/>
            <a:ext cx="804672" cy="8046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801" y="4335353"/>
            <a:ext cx="418429" cy="4184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62088" y="40873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Eviti accertamento e contenzioso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6647688" y="48920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atto, niente riscossione coattiva, niente rimozione.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vantaggi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 VANTAGGI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paga davvero il cittadino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PAGA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68680" y="21305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Indennità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56946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tariffa dell'occupazione/pubblicità, maggiorata, per gli anni non prescritti.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68680" y="37764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Diritti di istruttoria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421538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importo per ogni domanda, da versare con la domanda (non rimborsabile).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PAGA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196596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583680" y="2240280"/>
            <a:ext cx="749808" cy="74980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634" y="2420234"/>
            <a:ext cx="389900" cy="389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70648" y="224028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Sanzioni e interessi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629400" y="310896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regolarizzazione spontanea le sanzioni (lett. h) e gli interessi </a:t>
            </a: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dovuti.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risparmio che rende conveniente muoversi subito.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BF0D8"/>
          </a:solidFill>
          <a:ln w="12700">
            <a:solidFill>
              <a:srgbClr val="E8D2A0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57235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52578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NON quota importi. </a:t>
            </a: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cifra la calcola l'ufficio in base alle tariffe: spieghi il metodo, non il totale.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 paga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920240"/>
            <a:ext cx="6400800" cy="64008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7A8C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9354312" y="2286000"/>
            <a:ext cx="1920240" cy="1920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889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si regolarizza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BC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leva del "cosa rischio": va spiegata con chiarezza, senza spaventare.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LE CONSEGUENZE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succede se non ci si regolarizza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posizione irregolare non sparisce: il Comune procede comunque, ma senza sconti.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749808" y="2130552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226222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011680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Avviso di accertamento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766560" y="2011680"/>
            <a:ext cx="4800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Comune notifica l'atto e richiede il dovuto.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852928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749808" y="2971800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31034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852928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Indennità PIENA + sanzioni + interessi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766560" y="2852928"/>
            <a:ext cx="4800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tutto ciò che la regolarizzazione avrebbe azzerato.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694176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749808" y="3813048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2" y="3944722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3694176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Diffida a cessare e rimuovere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6766560" y="3694176"/>
            <a:ext cx="4800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 di rimuovere l'occupazione / la pubblicità.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4535424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7"/>
          <p:cNvSpPr/>
          <p:nvPr/>
        </p:nvSpPr>
        <p:spPr>
          <a:xfrm>
            <a:off x="749808" y="4654296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4785970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4535424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Riscossione coattiva</a:t>
            </a:r>
            <a:endParaRPr lang="en-US" sz="1650" dirty="0"/>
          </a:p>
        </p:txBody>
      </p:sp>
      <p:sp>
        <p:nvSpPr>
          <p:cNvPr id="26" name="Text 19"/>
          <p:cNvSpPr/>
          <p:nvPr/>
        </p:nvSpPr>
        <p:spPr>
          <a:xfrm>
            <a:off x="6766560" y="4535424"/>
            <a:ext cx="4800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forzoso delle somme non pagate.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48640" y="5376672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1"/>
          <p:cNvSpPr/>
          <p:nvPr/>
        </p:nvSpPr>
        <p:spPr>
          <a:xfrm>
            <a:off x="749808" y="5495544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482" y="5627218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08760" y="5376672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Contenzioso in Corte di Giustizia Tributaria</a:t>
            </a:r>
            <a:endParaRPr lang="en-US" sz="1650" dirty="0"/>
          </a:p>
        </p:txBody>
      </p:sp>
      <p:sp>
        <p:nvSpPr>
          <p:cNvPr id="31" name="Text 23"/>
          <p:cNvSpPr/>
          <p:nvPr/>
        </p:nvSpPr>
        <p:spPr>
          <a:xfrm>
            <a:off x="6766560" y="5376672"/>
            <a:ext cx="4800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CUP è un tributo (Cass. SS.UU. 12225/2026): la lite va al giudice tributario.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conseguenze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LE CONSEGUENZE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abuso, due binari sanzionatori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Un'occupazione o pubblicità abusiva può far scattare, insieme, due discipline distinte.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E8F1F9"/>
          </a:solidFill>
          <a:ln w="12700">
            <a:solidFill>
              <a:srgbClr val="BBD4E6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868680" y="2350008"/>
            <a:ext cx="731520" cy="73152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2525573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3500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CODICE DELLA STRADA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60120" y="3246120"/>
            <a:ext cx="4617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Verbale del pubblico ufficiale (Polizia Locale)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Sanzione pecuniaria (es. art. 20: € 173–694)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Sanzione accessoria: rimozione e ripristino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6583680" y="2350008"/>
            <a:ext cx="731520" cy="7315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245" y="2525573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23500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CANONE UNICO (CUP)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675120" y="3246120"/>
            <a:ext cx="4617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Avviso di accertamento (Ufficio Tributi)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Indennità maggiorata (canone + fino al 50%)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Sanzione amministrativa (da 1 a 2 volte il canone)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BF0D8"/>
          </a:solidFill>
          <a:ln w="12700">
            <a:solidFill>
              <a:srgbClr val="E8D2A0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due binari si sommano. </a:t>
            </a:r>
            <a:r>
              <a:rPr lang="en-US" sz="16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Regolarizzarsi spontaneamente è il modo per evitarli entrambi.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Doppio binario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LE CONSEGUENZE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ripristino dello stato originario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caso non è regolarizzabile (o non ci si muove), oltre alle somme scatta l'obbligo di rimozione.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822960" y="2304288"/>
            <a:ext cx="658368" cy="65836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822960" y="2304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645920" y="22677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Diffida a rimuovere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2688" y="2971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L'ente intima di rimuovere entro un termine breve (per la pubblicità, di norma 10 giorni).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20116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6537960" y="2304288"/>
            <a:ext cx="658368" cy="65836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537960" y="2304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360920" y="22677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Rimozione d'ufficio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47688" y="2971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Decorso il termine senza adempiere, provvede direttamente l'ente.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959352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822960" y="4251960"/>
            <a:ext cx="658368" cy="65836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822960" y="4251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645920" y="421538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Ripristino dello stato originario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2688" y="491947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opere vengono rimosse e i luoghi riportati allo stato originario.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63640" y="3959352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6537960" y="4251960"/>
            <a:ext cx="658368" cy="65836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6537960" y="4251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7360920" y="421538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 a carico del trasgressore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647688" y="491947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Oneri di rimozione e custodia addebitati a chi ha commesso l'abuso.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della Strada artt. 20 c. 5, 22 c. 11, 23 c. 13-bis · L. 160/2019 c. 822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Ripristino stato originario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CHE CONVINCE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regolarizzo  vs  Non faccio nulla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383280" y="178308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3383280" y="17830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 REGOLARIZZO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35240" y="178308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635240" y="17830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FACCIO NULLA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39572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Sanzioni e interessi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83280" y="2395728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566160" y="253288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2609698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239572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Azzerati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635240" y="2395728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818120" y="253288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930" y="2609698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39572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Dovuti per intero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4864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Importo di base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383280" y="3145536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3566160" y="3282696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3359506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69080" y="314553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Indennità agevolata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7635240" y="3145536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7818120" y="3282696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930" y="3359506"/>
            <a:ext cx="230429" cy="23042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21040" y="314553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Indennità piena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8640" y="389534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titolo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3383280" y="3895344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3"/>
          <p:cNvSpPr/>
          <p:nvPr/>
        </p:nvSpPr>
        <p:spPr>
          <a:xfrm>
            <a:off x="3566160" y="403250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4109314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069080" y="389534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Ottiene la sanatoria</a:t>
            </a:r>
            <a:endParaRPr lang="en-US" sz="1550" dirty="0"/>
          </a:p>
        </p:txBody>
      </p:sp>
      <p:sp>
        <p:nvSpPr>
          <p:cNvPr id="33" name="Shape 25"/>
          <p:cNvSpPr/>
          <p:nvPr/>
        </p:nvSpPr>
        <p:spPr>
          <a:xfrm>
            <a:off x="7635240" y="3895344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6"/>
          <p:cNvSpPr/>
          <p:nvPr/>
        </p:nvSpPr>
        <p:spPr>
          <a:xfrm>
            <a:off x="7818120" y="4032504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930" y="4109314"/>
            <a:ext cx="230429" cy="23042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321040" y="389534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Diffida e rimozione</a:t>
            </a:r>
            <a:endParaRPr lang="en-US" sz="1550" dirty="0"/>
          </a:p>
        </p:txBody>
      </p:sp>
      <p:sp>
        <p:nvSpPr>
          <p:cNvPr id="37" name="Text 28"/>
          <p:cNvSpPr/>
          <p:nvPr/>
        </p:nvSpPr>
        <p:spPr>
          <a:xfrm>
            <a:off x="548640" y="46451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3383280" y="464515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0"/>
          <p:cNvSpPr/>
          <p:nvPr/>
        </p:nvSpPr>
        <p:spPr>
          <a:xfrm>
            <a:off x="3566160" y="4782312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4859122"/>
            <a:ext cx="230429" cy="23042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069080" y="46451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a rate</a:t>
            </a:r>
            <a:endParaRPr lang="en-US" sz="1550" dirty="0"/>
          </a:p>
        </p:txBody>
      </p:sp>
      <p:sp>
        <p:nvSpPr>
          <p:cNvPr id="42" name="Shape 32"/>
          <p:cNvSpPr/>
          <p:nvPr/>
        </p:nvSpPr>
        <p:spPr>
          <a:xfrm>
            <a:off x="7635240" y="464515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33"/>
          <p:cNvSpPr/>
          <p:nvPr/>
        </p:nvSpPr>
        <p:spPr>
          <a:xfrm>
            <a:off x="7818120" y="4782312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930" y="4859122"/>
            <a:ext cx="230429" cy="230429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321040" y="46451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Riscossione coattiva</a:t>
            </a:r>
            <a:endParaRPr lang="en-US" sz="1550" dirty="0"/>
          </a:p>
        </p:txBody>
      </p:sp>
      <p:sp>
        <p:nvSpPr>
          <p:cNvPr id="46" name="Text 35"/>
          <p:cNvSpPr/>
          <p:nvPr/>
        </p:nvSpPr>
        <p:spPr>
          <a:xfrm>
            <a:off x="548640" y="53949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 finale</a:t>
            </a:r>
            <a:endParaRPr lang="en-US" sz="1500" dirty="0"/>
          </a:p>
        </p:txBody>
      </p:sp>
      <p:sp>
        <p:nvSpPr>
          <p:cNvPr id="47" name="Shape 36"/>
          <p:cNvSpPr/>
          <p:nvPr/>
        </p:nvSpPr>
        <p:spPr>
          <a:xfrm>
            <a:off x="3383280" y="5394960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37"/>
          <p:cNvSpPr/>
          <p:nvPr/>
        </p:nvSpPr>
        <p:spPr>
          <a:xfrm>
            <a:off x="3566160" y="5532120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5608930"/>
            <a:ext cx="230429" cy="230429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4069080" y="53949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in regola</a:t>
            </a:r>
            <a:endParaRPr lang="en-US" sz="1550" dirty="0"/>
          </a:p>
        </p:txBody>
      </p:sp>
      <p:sp>
        <p:nvSpPr>
          <p:cNvPr id="51" name="Shape 39"/>
          <p:cNvSpPr/>
          <p:nvPr/>
        </p:nvSpPr>
        <p:spPr>
          <a:xfrm>
            <a:off x="7635240" y="5394960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Shape 40"/>
          <p:cNvSpPr/>
          <p:nvPr/>
        </p:nvSpPr>
        <p:spPr>
          <a:xfrm>
            <a:off x="7818120" y="5532120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930" y="5608930"/>
            <a:ext cx="230429" cy="230429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8321040" y="53949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Accertamento e possibile causa</a:t>
            </a:r>
            <a:endParaRPr lang="en-US" sz="1550" dirty="0"/>
          </a:p>
        </p:txBody>
      </p:sp>
      <p:sp>
        <p:nvSpPr>
          <p:cNvPr id="55" name="Text 4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</a:t>
            </a:r>
            <a:endParaRPr lang="en-US" sz="900" dirty="0"/>
          </a:p>
        </p:txBody>
      </p:sp>
      <p:sp>
        <p:nvSpPr>
          <p:cNvPr id="57" name="Text 4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920240"/>
            <a:ext cx="6400800" cy="64008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7A8C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9354312" y="2286000"/>
            <a:ext cx="1920240" cy="1920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889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sequenza della procedura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BC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presenta la domanda, quali sono i bivi e come si arriva alla sanatoria.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LA PROCEDURA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procedura in 5 mosse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1165860" y="214884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16586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" y="3154680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721608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94944" y="416052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cittadino presenta domanda entro il termine, con la modulistica dell'ente.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3168396"/>
            <a:ext cx="292608" cy="29260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07208" y="187452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3424428" y="214884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3424428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154680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16936" y="3721608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Esame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2953512" y="416052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L'ufficio verifica completezza e regolarizzabilità.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168396"/>
            <a:ext cx="292608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065776" y="187452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4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5"/>
          <p:cNvSpPr/>
          <p:nvPr/>
        </p:nvSpPr>
        <p:spPr>
          <a:xfrm>
            <a:off x="568299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444" y="3154680"/>
            <a:ext cx="512064" cy="5120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75504" y="3721608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Richiesta pagamento</a:t>
            </a:r>
            <a:endParaRPr lang="en-US" sz="1650" dirty="0"/>
          </a:p>
        </p:txBody>
      </p:sp>
      <p:sp>
        <p:nvSpPr>
          <p:cNvPr id="25" name="Text 17"/>
          <p:cNvSpPr/>
          <p:nvPr/>
        </p:nvSpPr>
        <p:spPr>
          <a:xfrm>
            <a:off x="5212080" y="416052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L'ufficio comunica l'importo dovuto.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3168396"/>
            <a:ext cx="292608" cy="29260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24344" y="187452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19"/>
          <p:cNvSpPr/>
          <p:nvPr/>
        </p:nvSpPr>
        <p:spPr>
          <a:xfrm>
            <a:off x="7941564" y="214884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0"/>
          <p:cNvSpPr/>
          <p:nvPr/>
        </p:nvSpPr>
        <p:spPr>
          <a:xfrm>
            <a:off x="7941564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7012" y="3154680"/>
            <a:ext cx="512064" cy="51206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34072" y="3721608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</a:t>
            </a:r>
            <a:endParaRPr lang="en-US" sz="1650" dirty="0"/>
          </a:p>
        </p:txBody>
      </p:sp>
      <p:sp>
        <p:nvSpPr>
          <p:cNvPr id="32" name="Text 22"/>
          <p:cNvSpPr/>
          <p:nvPr/>
        </p:nvSpPr>
        <p:spPr>
          <a:xfrm>
            <a:off x="7470648" y="416052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un'unica soluzione o con la prima rata.</a:t>
            </a:r>
            <a:endParaRPr lang="en-US" sz="11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3168396"/>
            <a:ext cx="292608" cy="29260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582912" y="1874520"/>
            <a:ext cx="2057400" cy="2880360"/>
          </a:xfrm>
          <a:prstGeom prst="roundRect">
            <a:avLst>
              <a:gd name="adj" fmla="val 4000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24"/>
          <p:cNvSpPr/>
          <p:nvPr/>
        </p:nvSpPr>
        <p:spPr>
          <a:xfrm>
            <a:off x="10200132" y="2148840"/>
            <a:ext cx="822960" cy="82296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25"/>
          <p:cNvSpPr/>
          <p:nvPr/>
        </p:nvSpPr>
        <p:spPr>
          <a:xfrm>
            <a:off x="10200132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5580" y="3154680"/>
            <a:ext cx="512064" cy="512064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692640" y="3721608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Sanatoria</a:t>
            </a:r>
            <a:endParaRPr lang="en-US" sz="1650" dirty="0"/>
          </a:p>
        </p:txBody>
      </p:sp>
      <p:sp>
        <p:nvSpPr>
          <p:cNvPr id="39" name="Text 27"/>
          <p:cNvSpPr/>
          <p:nvPr/>
        </p:nvSpPr>
        <p:spPr>
          <a:xfrm>
            <a:off x="9729216" y="416052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L'ufficio rilascia la concessione o l'autorizzazione.</a:t>
            </a:r>
            <a:endParaRPr lang="en-US" sz="1150" dirty="0"/>
          </a:p>
        </p:txBody>
      </p:sp>
      <p:sp>
        <p:nvSpPr>
          <p:cNvPr id="40" name="Shape 28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BF0D8"/>
          </a:solidFill>
          <a:ln w="12700">
            <a:solidFill>
              <a:srgbClr val="E8D2A0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29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481328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 e importi variano da Comune a Comune. </a:t>
            </a: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valori-tipo (60 gg domanda · 15 gg integrazione · 30 gg pagamento · diritti di istruttoria) sono fissati dal regolamento del singolo ente.</a:t>
            </a:r>
            <a:endParaRPr lang="en-US" sz="1450" dirty="0"/>
          </a:p>
        </p:txBody>
      </p:sp>
      <p:sp>
        <p:nvSpPr>
          <p:cNvPr id="44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mosse</a:t>
            </a:r>
            <a:endParaRPr lang="en-US" sz="900" dirty="0"/>
          </a:p>
        </p:txBody>
      </p:sp>
      <p:sp>
        <p:nvSpPr>
          <p:cNvPr id="46" name="Text 3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LA PROCEDURA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L'iter della regolarizzazione CUP: tempi, alternative e costi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120700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1F6FA"/>
          </a:solidFill>
          <a:ln w="15875">
            <a:solidFill>
              <a:srgbClr val="D6E0E8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61288" y="1207008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Occupazione o pubblicità SENZA titolo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51560" y="193852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E8F1F9"/>
          </a:solidFill>
          <a:ln w="15875">
            <a:solidFill>
              <a:srgbClr val="BBD4E6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61288" y="1984248"/>
            <a:ext cx="3941064" cy="31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Presentazione domanda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2245766"/>
            <a:ext cx="3941064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60 gg dalla pubblicazione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67004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 w="15875">
            <a:solidFill>
              <a:srgbClr val="E8D2A0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161288" y="2670048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66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completa?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51560" y="340156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 w="15875">
            <a:solidFill>
              <a:srgbClr val="E8D2A0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161288" y="3447288"/>
            <a:ext cx="3941064" cy="31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66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Fattispecie regolarizzabile?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3708806"/>
            <a:ext cx="3941064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rilasciabile in conformità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51560" y="413308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E7F2EC"/>
          </a:solidFill>
          <a:ln w="15875">
            <a:solidFill>
              <a:srgbClr val="C4DECF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161288" y="4178808"/>
            <a:ext cx="3941064" cy="31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Richiesta e pagamento indennità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440326"/>
            <a:ext cx="3941064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 soluzione oppure a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486460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 w="15875">
            <a:solidFill>
              <a:srgbClr val="E8D2A0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161288" y="4864608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66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 effettuato?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51560" y="559612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15875">
            <a:solidFill>
              <a:srgbClr val="246048"/>
            </a:solidFill>
            <a:prstDash val="solid"/>
          </a:ln>
          <a:effectLst>
            <a:outerShdw blurRad="50800" dist="17780" dir="5400000" algn="bl" rotWithShape="0">
              <a:srgbClr val="9FB0BD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161288" y="5641848"/>
            <a:ext cx="3941064" cy="31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SANATORIA · Posizione regolarizzata 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5903366"/>
            <a:ext cx="3941064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6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concessione / autorizzazione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1820" y="1755648"/>
            <a:ext cx="0" cy="182880"/>
          </a:xfrm>
          <a:prstGeom prst="line">
            <a:avLst/>
          </a:prstGeom>
          <a:noFill/>
          <a:ln w="24130">
            <a:solidFill>
              <a:srgbClr val="1B3A5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131820" y="2487168"/>
            <a:ext cx="0" cy="182880"/>
          </a:xfrm>
          <a:prstGeom prst="line">
            <a:avLst/>
          </a:prstGeom>
          <a:noFill/>
          <a:ln w="24130">
            <a:solidFill>
              <a:srgbClr val="1B3A5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131820" y="3218688"/>
            <a:ext cx="0" cy="182880"/>
          </a:xfrm>
          <a:prstGeom prst="line">
            <a:avLst/>
          </a:prstGeom>
          <a:noFill/>
          <a:ln w="24130">
            <a:solidFill>
              <a:srgbClr val="1B3A5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204972" y="3172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31820" y="3950208"/>
            <a:ext cx="0" cy="182880"/>
          </a:xfrm>
          <a:prstGeom prst="line">
            <a:avLst/>
          </a:prstGeom>
          <a:noFill/>
          <a:ln w="24130">
            <a:solidFill>
              <a:srgbClr val="1B3A5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204972" y="39044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31820" y="4681728"/>
            <a:ext cx="0" cy="182880"/>
          </a:xfrm>
          <a:prstGeom prst="line">
            <a:avLst/>
          </a:prstGeom>
          <a:noFill/>
          <a:ln w="24130">
            <a:solidFill>
              <a:srgbClr val="1B3A5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3131820" y="5413248"/>
            <a:ext cx="0" cy="182880"/>
          </a:xfrm>
          <a:prstGeom prst="line">
            <a:avLst/>
          </a:prstGeom>
          <a:noFill/>
          <a:ln w="24130">
            <a:solidFill>
              <a:srgbClr val="1B3A5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204972" y="5367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" y="2020824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97634"/>
            <a:ext cx="230429" cy="230429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78267" y="2020824"/>
            <a:ext cx="39099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01752" y="4215384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2194"/>
            <a:ext cx="230429" cy="230429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78267" y="4215384"/>
            <a:ext cx="39099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gg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5212080" y="2944368"/>
            <a:ext cx="384048" cy="0"/>
          </a:xfrm>
          <a:prstGeom prst="line">
            <a:avLst/>
          </a:prstGeom>
          <a:noFill/>
          <a:ln w="21590">
            <a:solidFill>
              <a:srgbClr val="9C660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4"/>
          <p:cNvSpPr/>
          <p:nvPr/>
        </p:nvSpPr>
        <p:spPr>
          <a:xfrm>
            <a:off x="5230368" y="26700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669280" y="26243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(15 gg)
</a:t>
            </a:r>
            <a:r>
              <a:rPr lang="en-US" sz="1050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si prosegue l'esame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5212080" y="3675888"/>
            <a:ext cx="384048" cy="0"/>
          </a:xfrm>
          <a:prstGeom prst="line">
            <a:avLst/>
          </a:prstGeom>
          <a:noFill/>
          <a:ln w="21590">
            <a:solidFill>
              <a:srgbClr val="5B6A7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7"/>
          <p:cNvSpPr/>
          <p:nvPr/>
        </p:nvSpPr>
        <p:spPr>
          <a:xfrm>
            <a:off x="5230368" y="340156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5669280" y="335584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Rigetto: resta l'obbligo di cessare.
</a:t>
            </a:r>
            <a:r>
              <a:rPr lang="en-US" sz="105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non aggrava la posizione.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5212080" y="5138928"/>
            <a:ext cx="384048" cy="0"/>
          </a:xfrm>
          <a:prstGeom prst="line">
            <a:avLst/>
          </a:prstGeom>
          <a:noFill/>
          <a:ln w="21590">
            <a:solidFill>
              <a:srgbClr val="B23A4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0"/>
          <p:cNvSpPr/>
          <p:nvPr/>
        </p:nvSpPr>
        <p:spPr>
          <a:xfrm>
            <a:off x="5230368" y="48646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5669280" y="481888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Decadenza
</a:t>
            </a:r>
            <a:r>
              <a:rPr lang="en-US" sz="10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tornano sanzioni e interessi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7452360" y="1097280"/>
            <a:ext cx="4251960" cy="5166360"/>
          </a:xfrm>
          <a:prstGeom prst="roundRect">
            <a:avLst>
              <a:gd name="adj" fmla="val 2151"/>
            </a:avLst>
          </a:prstGeom>
          <a:solidFill>
            <a:srgbClr val="F8E9EB"/>
          </a:solidFill>
          <a:ln w="19050">
            <a:solidFill>
              <a:srgbClr val="B23A48"/>
            </a:solidFill>
            <a:prstDash val="solid"/>
          </a:ln>
          <a:effectLst>
            <a:outerShdw blurRad="76200" dist="25400" dir="5400000" algn="bl" rotWithShape="0">
              <a:srgbClr val="CC9999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7" name="Shape 43"/>
          <p:cNvSpPr/>
          <p:nvPr/>
        </p:nvSpPr>
        <p:spPr>
          <a:xfrm>
            <a:off x="7452360" y="1097280"/>
            <a:ext cx="4251960" cy="786384"/>
          </a:xfrm>
          <a:prstGeom prst="roundRect">
            <a:avLst>
              <a:gd name="adj" fmla="val 11628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4"/>
          <p:cNvSpPr/>
          <p:nvPr/>
        </p:nvSpPr>
        <p:spPr>
          <a:xfrm>
            <a:off x="7635240" y="1143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FAI NULLA</a:t>
            </a:r>
            <a:endParaRPr lang="en-US" sz="1700" dirty="0"/>
          </a:p>
        </p:txBody>
      </p:sp>
      <p:sp>
        <p:nvSpPr>
          <p:cNvPr id="49" name="Text 45"/>
          <p:cNvSpPr/>
          <p:nvPr/>
        </p:nvSpPr>
        <p:spPr>
          <a:xfrm>
            <a:off x="7635240" y="149961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F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Comune procede comunque. Questi importi sono dovuti per l'occupazione, non per la domanda.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7616952" y="1993392"/>
            <a:ext cx="3922776" cy="566928"/>
          </a:xfrm>
          <a:prstGeom prst="roundRect">
            <a:avLst>
              <a:gd name="adj" fmla="val 9677"/>
            </a:avLst>
          </a:prstGeom>
          <a:solidFill>
            <a:srgbClr val="E8F1F9"/>
          </a:solidFill>
          <a:ln w="12700">
            <a:solidFill>
              <a:srgbClr val="BBD4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7"/>
          <p:cNvSpPr/>
          <p:nvPr/>
        </p:nvSpPr>
        <p:spPr>
          <a:xfrm>
            <a:off x="7744968" y="2093976"/>
            <a:ext cx="365760" cy="36576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2185416"/>
            <a:ext cx="182880" cy="18288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229600" y="199339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Comune ha già censito le posizioni con tecnologie avanzate.</a:t>
            </a:r>
            <a:endParaRPr lang="en-US" sz="1150" dirty="0"/>
          </a:p>
        </p:txBody>
      </p:sp>
      <p:sp>
        <p:nvSpPr>
          <p:cNvPr id="54" name="Shape 49"/>
          <p:cNvSpPr/>
          <p:nvPr/>
        </p:nvSpPr>
        <p:spPr>
          <a:xfrm>
            <a:off x="7671816" y="2788920"/>
            <a:ext cx="402336" cy="40233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889504"/>
            <a:ext cx="201168" cy="20116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8202168" y="270662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Indennità PIENA  </a:t>
            </a:r>
            <a:r>
              <a:rPr lang="en-US" sz="10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+ maggiorazione (fino al 50%), per tutti gli anni non prescritti</a:t>
            </a:r>
            <a:endParaRPr lang="en-US" sz="1250" dirty="0"/>
          </a:p>
        </p:txBody>
      </p:sp>
      <p:sp>
        <p:nvSpPr>
          <p:cNvPr id="57" name="Shape 51"/>
          <p:cNvSpPr/>
          <p:nvPr/>
        </p:nvSpPr>
        <p:spPr>
          <a:xfrm>
            <a:off x="7671816" y="3447288"/>
            <a:ext cx="402336" cy="40233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547872"/>
            <a:ext cx="201168" cy="201168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8202168" y="336499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Sanzione amministrativa  </a:t>
            </a:r>
            <a:r>
              <a:rPr lang="en-US" sz="10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a 2 volte il canone</a:t>
            </a:r>
            <a:endParaRPr lang="en-US" sz="1250" dirty="0"/>
          </a:p>
        </p:txBody>
      </p:sp>
      <p:sp>
        <p:nvSpPr>
          <p:cNvPr id="60" name="Shape 53"/>
          <p:cNvSpPr/>
          <p:nvPr/>
        </p:nvSpPr>
        <p:spPr>
          <a:xfrm>
            <a:off x="7671816" y="4105656"/>
            <a:ext cx="402336" cy="40233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206240"/>
            <a:ext cx="201168" cy="201168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8202168" y="40233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Interessi  </a:t>
            </a:r>
            <a:r>
              <a:rPr lang="en-US" sz="10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legge e da regolamento</a:t>
            </a:r>
            <a:endParaRPr lang="en-US" sz="1250" dirty="0"/>
          </a:p>
        </p:txBody>
      </p:sp>
      <p:sp>
        <p:nvSpPr>
          <p:cNvPr id="63" name="Shape 55"/>
          <p:cNvSpPr/>
          <p:nvPr/>
        </p:nvSpPr>
        <p:spPr>
          <a:xfrm>
            <a:off x="7616952" y="4681728"/>
            <a:ext cx="3922776" cy="1024128"/>
          </a:xfrm>
          <a:prstGeom prst="roundRect">
            <a:avLst>
              <a:gd name="adj" fmla="val 7143"/>
            </a:avLst>
          </a:prstGeom>
          <a:solidFill>
            <a:srgbClr val="B23A48"/>
          </a:solidFill>
          <a:ln/>
          <a:effectLst>
            <a:outerShdw blurRad="50800" dist="19050" dir="5400000" algn="bl" rotWithShape="0">
              <a:srgbClr val="8A2530">
                <a:alpha val="3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4" name="Shape 56"/>
          <p:cNvSpPr/>
          <p:nvPr/>
        </p:nvSpPr>
        <p:spPr>
          <a:xfrm>
            <a:off x="7763256" y="49103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5056632"/>
            <a:ext cx="256032" cy="256032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8421624" y="4773168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RIPRISTINARE LO STATO ORIGINARIO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8421624" y="5138928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diffida a rimuovere · devi rimuovere l'opera abusiva e riportare i luoghi allo stato originario, A TUE SPESE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671816" y="5879592"/>
            <a:ext cx="402336" cy="40233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5980176"/>
            <a:ext cx="201168" cy="201168"/>
          </a:xfrm>
          <a:prstGeom prst="rect">
            <a:avLst/>
          </a:prstGeom>
        </p:spPr>
      </p:pic>
      <p:sp>
        <p:nvSpPr>
          <p:cNvPr id="70" name="Text 60"/>
          <p:cNvSpPr/>
          <p:nvPr/>
        </p:nvSpPr>
        <p:spPr>
          <a:xfrm>
            <a:off x="8202168" y="579729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Riscossione coattiva  </a:t>
            </a:r>
            <a:r>
              <a:rPr lang="en-US" sz="10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possibile sanzione del Codice della Strada</a:t>
            </a:r>
            <a:endParaRPr lang="en-US" sz="1250" dirty="0"/>
          </a:p>
        </p:txBody>
      </p:sp>
      <p:sp>
        <p:nvSpPr>
          <p:cNvPr id="71" name="Text 61"/>
          <p:cNvSpPr/>
          <p:nvPr/>
        </p:nvSpPr>
        <p:spPr>
          <a:xfrm>
            <a:off x="548640" y="6437376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 = valori-tipo (variano da Comune a Comune). Gli importi sono dovuti per l'occupazione abusiva, non per la presentazione della domanda.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LA PROCEDURA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domanda: cosa deve sapere il cittadino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68680" y="1993392"/>
            <a:ext cx="804672" cy="804672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2186513"/>
            <a:ext cx="418429" cy="4184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7088" y="19385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 il termine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32688" y="27432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perentorio dalla pubblicazione del regolamento (valore-tipo: 60 giorni).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63640" y="16459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6583680" y="1993392"/>
            <a:ext cx="804672" cy="804672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801" y="2186513"/>
            <a:ext cx="418429" cy="418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62088" y="19385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Modulistica dell'ente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647688" y="27432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usa la procedura e il modulo predisposti dal Comune, con i documenti richiesti.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868680" y="4142232"/>
            <a:ext cx="804672" cy="804672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801" y="4335353"/>
            <a:ext cx="418429" cy="4184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47088" y="40873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domanda per ogni caso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32688" y="48920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una domanda distinta per ciascuna occupazione o pubblicità.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263640" y="3794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6583680" y="4142232"/>
            <a:ext cx="804672" cy="804672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801" y="4335353"/>
            <a:ext cx="418429" cy="4184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62088" y="40873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Diritti di istruttoria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6647688" y="48920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versare con la domanda, per ciascuna domanda. Non rimborsabili.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 e art. 5, c. 8 del regolamento-tipo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LA PROCEDURA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pagamento: unica soluzione o a rate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6459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 soluzione
</a:t>
            </a: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il termine dalla richiesta dell'ufficio (tipo: 30 giorni).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3063240"/>
            <a:ext cx="5029200" cy="1417320"/>
          </a:xfrm>
          <a:prstGeom prst="roundRect">
            <a:avLst>
              <a:gd name="adj" fmla="val 5806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58261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0632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Oppure a rate
</a:t>
            </a: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rata entro il termine + domanda di rateizzazione. Rate periodiche.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943600" y="164592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Esempio di scala rate (bozza-tipo)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943600" y="2011680"/>
            <a:ext cx="3886200" cy="548640"/>
          </a:xfrm>
          <a:prstGeom prst="rect">
            <a:avLst/>
          </a:prstGeom>
          <a:solidFill>
            <a:srgbClr val="1B3A5B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1"/>
          <p:cNvSpPr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solidFill>
            <a:srgbClr val="1B3A5B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6126480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Importo dovuto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max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943600" y="2560320"/>
            <a:ext cx="388620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9829800" y="2560320"/>
            <a:ext cx="182880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6126480" y="2560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 a € 500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82980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943600" y="3108960"/>
            <a:ext cx="3886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9829800" y="31089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6126480" y="31089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€ 501 a € 1.000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8298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943600" y="3657600"/>
            <a:ext cx="388620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9829800" y="3657600"/>
            <a:ext cx="182880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6126480" y="36576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€ 1.001 a € 2.000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982980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5943600" y="4206240"/>
            <a:ext cx="3886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7"/>
          <p:cNvSpPr/>
          <p:nvPr/>
        </p:nvSpPr>
        <p:spPr>
          <a:xfrm>
            <a:off x="9829800" y="420624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28"/>
          <p:cNvSpPr/>
          <p:nvPr/>
        </p:nvSpPr>
        <p:spPr>
          <a:xfrm>
            <a:off x="6126480" y="42062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€ 2.000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982980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5943600" y="4791456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Valori-tipo: il singolo Comune può modificare soglie, rate e periodicità.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48640" y="5138928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BF0D8"/>
          </a:solidFill>
          <a:ln w="12700">
            <a:solidFill>
              <a:srgbClr val="E8D2A0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2"/>
          <p:cNvSpPr/>
          <p:nvPr/>
        </p:nvSpPr>
        <p:spPr>
          <a:xfrm>
            <a:off x="804672" y="5358384"/>
            <a:ext cx="548640" cy="548640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5490058"/>
            <a:ext cx="285293" cy="28529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508760" y="50749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alla decadenza. </a:t>
            </a: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salta anche una sola rata, decade dal beneficio: scatta la riscossione immediata del residuo, con sanzioni e interessi.</a:t>
            </a:r>
            <a:endParaRPr lang="en-US" sz="1550" dirty="0"/>
          </a:p>
        </p:txBody>
      </p:sp>
      <p:sp>
        <p:nvSpPr>
          <p:cNvPr id="40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pagamento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LA PROCEDURA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tre esiti possibili dell'esame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E7F2EC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1901952" y="2057400"/>
            <a:ext cx="859536" cy="85953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41" y="2263689"/>
            <a:ext cx="446959" cy="4469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 e regolarizzabile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14400" y="40690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L'ufficio comunica l'importo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cittadino paga (o 1ª rata)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Rilascio del titolo in sanatoria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398264" y="173736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FBF0D8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5751576" y="2057400"/>
            <a:ext cx="859536" cy="859536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865" y="2263689"/>
            <a:ext cx="446959" cy="4469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6864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9C66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incompleta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4764024" y="40690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L'ufficio chiede l'integrazione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termine minimo assegnato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integra → rigetto e diffida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247888" y="1737360"/>
            <a:ext cx="3566160" cy="3931920"/>
          </a:xfrm>
          <a:prstGeom prst="roundRect">
            <a:avLst>
              <a:gd name="adj" fmla="val 2308"/>
            </a:avLst>
          </a:prstGeom>
          <a:solidFill>
            <a:srgbClr val="F8E9EB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9601200" y="2057400"/>
            <a:ext cx="859536" cy="859536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7489" y="2263689"/>
            <a:ext cx="446959" cy="4469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76488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NON regolarizzabile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8613648" y="40690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è respinta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Diffida a cessare e rimuovere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Restano le azioni di legge dell'ente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 del regolamento-tipo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esiti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920240"/>
            <a:ext cx="6400800" cy="64008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7A8C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9354312" y="2286000"/>
            <a:ext cx="1920240" cy="192024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889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telefono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BC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condurre la chiamata, le domande frequenti e le regole d'oro.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AL TELEFONO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condurre la chiamata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08760" y="16916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Accogli e ascolta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169164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Fatti spiegare la situazione: che tipo di occupazione o pubblicità ha.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BF0D8"/>
          </a:solidFill>
          <a:ln w="12700">
            <a:solidFill>
              <a:srgbClr val="E8D2A0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731520" y="2651760"/>
            <a:ext cx="566928" cy="566928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08760" y="2606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chiave: "È già arrivato un avviso?"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0" y="260604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SÌ → posizione già accertata: è definizione agevolata, non regolarizzazione.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731520" y="356616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73152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508760" y="35204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Spiega vantaggi e rischi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17920" y="352044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sanzioni né interessi se si muove ora; accertamento, rimozione e coattiva se non fa nulla.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731520" y="448056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731520" y="4480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508760" y="44348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Indirizza alla domanda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17920" y="443484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Modulistica dell'ente, entro il termine, diritti dovuti. Una domanda per ciascun caso.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52578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1F6FA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731520" y="539496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731520" y="5394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508760" y="53492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gli importi, l'ufficio competente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217920" y="534924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dare cifre: l'importo lo calcola l'ufficio. Fornisci i contatti utili.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chiamata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AL TELEFONO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domande più frequenti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539496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22960" y="1682496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"Quanto devo pagare?"
</a:t>
            </a: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L'importo lo calcola l'ufficio in base alle tariffe. Al telefono non diamo cifre.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572768"/>
            <a:ext cx="539496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537960" y="1682496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"Devo pagare anche le multe?"
</a:t>
            </a: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se ti regolarizzi ora, sanzioni e interessi non sono dovuti.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035808"/>
            <a:ext cx="539496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22960" y="3145536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 già ricevuto un avviso."
</a:t>
            </a: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una posizione già accertata: si tratta di definizione agevolata, non di questa procedura.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3035808"/>
            <a:ext cx="539496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537960" y="3145536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 fa il Comune a saperlo?"
</a:t>
            </a: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censito il territorio con tecnologie avanzate che rilevano le posizioni da regolarizzare.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498848"/>
            <a:ext cx="539496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822960" y="4608576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"Posso pagare a rate?"
</a:t>
            </a: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in più rate periodiche in base all'importo. Serve la domanda di rateizzazione.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4498848"/>
            <a:ext cx="539496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537960" y="4608576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se non faccio nulla?"
</a:t>
            </a: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Accertamento, indennità piena, sanzioni, interessi, rimozione ed eventuale coattiva.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ellipse">
            <a:avLst/>
          </a:prstGeom>
          <a:solidFill>
            <a:srgbClr val="9C660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637154"/>
            <a:ext cx="389900" cy="38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45720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C6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AL TELEFONO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17904" y="768096"/>
            <a:ext cx="10122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regole d'oro dell'operatore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8E9EB"/>
          </a:solidFill>
          <a:ln w="12700">
            <a:solidFill>
              <a:srgbClr val="E7C4C9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68680" y="2057400"/>
            <a:ext cx="804672" cy="804672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2250521"/>
            <a:ext cx="418429" cy="4184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7088" y="20574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NON FARE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005840" y="3063240"/>
            <a:ext cx="4572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quotare importi: li calcola l'ufficio.</a:t>
            </a:r>
            <a:endParaRPr lang="en-US" sz="155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dare consulenza legale né promettere esiti.</a:t>
            </a:r>
            <a:endParaRPr lang="en-US" sz="155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dire una scadenza finché il regolamento non è pubblicato.</a:t>
            </a:r>
            <a:endParaRPr lang="en-US" sz="155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far credere che presentare domanda peggiori la posizione.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63640" y="173736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E7F2EC"/>
          </a:solidFill>
          <a:ln w="12700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8FA3B2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6583680" y="2057400"/>
            <a:ext cx="804672" cy="8046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801" y="2250521"/>
            <a:ext cx="418429" cy="418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62088" y="20574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FARE SEMPRE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6720840" y="3063240"/>
            <a:ext cx="4572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 sempre se è già arrivato un avviso/accertamento.</a:t>
            </a:r>
            <a:endParaRPr lang="en-US" sz="155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 il metodo (indennità sì, sanzioni no) senza numeri.</a:t>
            </a:r>
            <a:endParaRPr lang="en-US" sz="155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Indirizza a modulistica e contatti dell'ufficio competente.</a:t>
            </a:r>
            <a:endParaRPr lang="en-US" sz="155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Rassicura: gli importi derivano dall'occupazione, non dalla domanda.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d'oro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IN UNA PAGINA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riepilogo da tenere a portata di mano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2960" y="195681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211482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691640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
</a:t>
            </a: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occupa suolo pubblico o espone pubblicità senza titolo può mettersi in regola.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6537960" y="195681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968" y="2114824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9208" y="1691640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
</a:t>
            </a: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sanzioni né interessi, titolo in sanatoria, pagamento a rate, stop al contenzioso.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822960" y="351129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68" y="3669304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64208" y="3246120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paga
</a:t>
            </a: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l'indennità (tariffa maggiorata) + diritti. L'importo lo calcola l'ufficio.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26364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6537960" y="351129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968" y="3669304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79208" y="3246120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fa
</a:t>
            </a: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entro il termine con modulistica comunale; una domanda per ogni caso.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5"/>
          <p:cNvSpPr/>
          <p:nvPr/>
        </p:nvSpPr>
        <p:spPr>
          <a:xfrm>
            <a:off x="822960" y="506577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968" y="5223784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64208" y="4800600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lo fa
</a:t>
            </a: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Accertamento, indennità piena + sanzioni + interessi, diffida, rimozione, coattiva.</a:t>
            </a:r>
            <a:endParaRPr lang="en-US" sz="1650" dirty="0"/>
          </a:p>
        </p:txBody>
      </p:sp>
      <p:sp>
        <p:nvSpPr>
          <p:cNvPr id="24" name="Shape 17"/>
          <p:cNvSpPr/>
          <p:nvPr/>
        </p:nvSpPr>
        <p:spPr>
          <a:xfrm>
            <a:off x="626364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18"/>
          <p:cNvSpPr/>
          <p:nvPr/>
        </p:nvSpPr>
        <p:spPr>
          <a:xfrm>
            <a:off x="6537960" y="506577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968" y="5223784"/>
            <a:ext cx="342351" cy="34235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79208" y="4800600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telefono
</a:t>
            </a: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 se c'è già un avviso, spiega il metodo, non dare cifre, indirizza all'ufficio.</a:t>
            </a:r>
            <a:endParaRPr lang="en-US" sz="165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CUP · Regolarizzazione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3808476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486400" cy="54864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60120" cy="9601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1099109"/>
            <a:ext cx="499262" cy="499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cose da ricordare sempre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30632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22960" y="3319272"/>
            <a:ext cx="621792" cy="621792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90" y="3468502"/>
            <a:ext cx="323332" cy="3233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977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Chiedi prima se c'è già un avviso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45445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subito regolarizzazione da definizione agevolata.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98264" y="30632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4672584" y="3319272"/>
            <a:ext cx="621792" cy="621792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814" y="3468502"/>
            <a:ext cx="323332" cy="3233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72584" y="3977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dare mai importi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72584" y="45445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Spieghi il metodo; la cifra la calcola l'ufficio del Comune.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47888" y="30632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B3A5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8522208" y="3319272"/>
            <a:ext cx="621792" cy="621792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438" y="3468502"/>
            <a:ext cx="323332" cy="3233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22208" y="3977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messaggio è: conviene muoversi ora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522208" y="45445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costi oggi, molti più rischi domani.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riferimenti operativi (numeri, orari, portale) sono quelli del singolo Comune.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2800</Words>
  <Application>Microsoft Macintosh PowerPoint</Application>
  <PresentationFormat>Widescreen</PresentationFormat>
  <Paragraphs>449</Paragraphs>
  <Slides>31</Slides>
  <Notes>31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Archivia Solution S.p.A.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Archivia Solution</dc:creator>
  <cp:lastModifiedBy>ROSA VICIDOMINI</cp:lastModifiedBy>
  <cp:revision>2</cp:revision>
  <dcterms:created xsi:type="dcterms:W3CDTF">2026-07-21T16:51:07Z</dcterms:created>
  <dcterms:modified xsi:type="dcterms:W3CDTF">2026-07-21T16:59:49Z</dcterms:modified>
</cp:coreProperties>
</file>